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30" r:id="rId1"/>
  </p:sldMasterIdLst>
  <p:sldIdLst>
    <p:sldId id="256" r:id="rId2"/>
    <p:sldId id="269" r:id="rId3"/>
    <p:sldId id="268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84" r:id="rId12"/>
    <p:sldId id="277" r:id="rId13"/>
    <p:sldId id="278" r:id="rId14"/>
    <p:sldId id="279" r:id="rId15"/>
    <p:sldId id="280" r:id="rId16"/>
    <p:sldId id="281" r:id="rId17"/>
    <p:sldId id="285" r:id="rId18"/>
    <p:sldId id="257" r:id="rId19"/>
    <p:sldId id="258" r:id="rId20"/>
    <p:sldId id="286" r:id="rId21"/>
    <p:sldId id="259" r:id="rId22"/>
    <p:sldId id="260" r:id="rId23"/>
    <p:sldId id="261" r:id="rId24"/>
    <p:sldId id="262" r:id="rId25"/>
    <p:sldId id="263" r:id="rId26"/>
    <p:sldId id="264" r:id="rId27"/>
    <p:sldId id="283" r:id="rId28"/>
    <p:sldId id="265" r:id="rId29"/>
    <p:sldId id="282" r:id="rId30"/>
    <p:sldId id="266" r:id="rId31"/>
    <p:sldId id="267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78E448DC-C672-408B-A642-D48261F152D1}">
          <p14:sldIdLst>
            <p14:sldId id="256"/>
            <p14:sldId id="269"/>
            <p14:sldId id="268"/>
            <p14:sldId id="270"/>
            <p14:sldId id="271"/>
            <p14:sldId id="272"/>
            <p14:sldId id="273"/>
            <p14:sldId id="274"/>
            <p14:sldId id="275"/>
            <p14:sldId id="276"/>
            <p14:sldId id="284"/>
            <p14:sldId id="277"/>
            <p14:sldId id="278"/>
            <p14:sldId id="279"/>
            <p14:sldId id="280"/>
            <p14:sldId id="281"/>
            <p14:sldId id="285"/>
            <p14:sldId id="257"/>
            <p14:sldId id="258"/>
            <p14:sldId id="286"/>
            <p14:sldId id="259"/>
            <p14:sldId id="260"/>
            <p14:sldId id="261"/>
            <p14:sldId id="262"/>
            <p14:sldId id="263"/>
            <p14:sldId id="264"/>
            <p14:sldId id="283"/>
            <p14:sldId id="265"/>
            <p14:sldId id="282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JAS PATIL" initials="TP" lastIdx="1" clrIdx="0">
    <p:extLst>
      <p:ext uri="{19B8F6BF-5375-455C-9EA6-DF929625EA0E}">
        <p15:presenceInfo xmlns:p15="http://schemas.microsoft.com/office/powerpoint/2012/main" userId="414102abd1b1eba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 snapToObjects="1">
      <p:cViewPr>
        <p:scale>
          <a:sx n="61" d="100"/>
          <a:sy n="61" d="100"/>
        </p:scale>
        <p:origin x="161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11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32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32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342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25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528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460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54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43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596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212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5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  <p:sldLayoutId id="2147484032" r:id="rId2"/>
    <p:sldLayoutId id="2147484033" r:id="rId3"/>
    <p:sldLayoutId id="2147484034" r:id="rId4"/>
    <p:sldLayoutId id="2147484035" r:id="rId5"/>
    <p:sldLayoutId id="2147484036" r:id="rId6"/>
    <p:sldLayoutId id="2147484037" r:id="rId7"/>
    <p:sldLayoutId id="2147484038" r:id="rId8"/>
    <p:sldLayoutId id="2147484039" r:id="rId9"/>
    <p:sldLayoutId id="2147484040" r:id="rId10"/>
    <p:sldLayoutId id="21474840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1141030"/>
            <a:ext cx="5829300" cy="961694"/>
          </a:xfrm>
        </p:spPr>
        <p:txBody>
          <a:bodyPr>
            <a:normAutofit fontScale="90000"/>
          </a:bodyPr>
          <a:lstStyle/>
          <a:p>
            <a:r>
              <a:rPr sz="4800" b="1" dirty="0"/>
              <a:t>Market Analysis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50" y="2701817"/>
            <a:ext cx="5829300" cy="1958854"/>
          </a:xfrm>
        </p:spPr>
        <p:txBody>
          <a:bodyPr>
            <a:normAutofit/>
          </a:bodyPr>
          <a:lstStyle/>
          <a:p>
            <a:pPr algn="l"/>
            <a:r>
              <a:rPr lang="en-US" sz="2200" b="1" dirty="0"/>
              <a:t>Title : Project Team / Team Members</a:t>
            </a:r>
            <a:r>
              <a:rPr lang="en-US" sz="2200" dirty="0"/>
              <a:t> </a:t>
            </a:r>
          </a:p>
          <a:p>
            <a:pPr algn="l"/>
            <a:r>
              <a:rPr lang="en-US" sz="2200" b="1" dirty="0"/>
              <a:t>Project Team ID - </a:t>
            </a:r>
            <a:r>
              <a:rPr lang="en-US" sz="2200" dirty="0">
                <a:solidFill>
                  <a:srgbClr val="222222"/>
                </a:solidFill>
                <a:latin typeface="Arial" panose="020B0604020202020204" pitchFamily="34" charset="0"/>
              </a:rPr>
              <a:t> </a:t>
            </a:r>
            <a:r>
              <a:rPr lang="en-US" sz="2000" b="1" dirty="0">
                <a:solidFill>
                  <a:srgbClr val="222222"/>
                </a:solidFill>
                <a:latin typeface="Arial" panose="020B0604020202020204" pitchFamily="34" charset="0"/>
              </a:rPr>
              <a:t>PTID-CDA-APR-25-430</a:t>
            </a:r>
          </a:p>
          <a:p>
            <a:pPr algn="l"/>
            <a:r>
              <a:rPr lang="en-US" sz="2200" b="1" dirty="0">
                <a:solidFill>
                  <a:srgbClr val="222222"/>
                </a:solidFill>
              </a:rPr>
              <a:t>Project</a:t>
            </a:r>
            <a:r>
              <a:rPr lang="en-US" sz="2200" b="1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sz="2200" b="1" dirty="0">
                <a:solidFill>
                  <a:srgbClr val="222222"/>
                </a:solidFill>
              </a:rPr>
              <a:t>Code - CDACL-006</a:t>
            </a:r>
          </a:p>
          <a:p>
            <a:pPr algn="l"/>
            <a:r>
              <a:rPr lang="en-US" sz="2200" b="1" dirty="0"/>
              <a:t>Presented by - Nikhil </a:t>
            </a:r>
            <a:r>
              <a:rPr lang="en-US" sz="2200" b="1" dirty="0" err="1"/>
              <a:t>kaloge</a:t>
            </a:r>
            <a:r>
              <a:rPr lang="en-US" sz="2200" b="1" dirty="0"/>
              <a:t> &amp; </a:t>
            </a:r>
            <a:r>
              <a:rPr lang="en-US" sz="2200" b="1" dirty="0" err="1"/>
              <a:t>Tejas</a:t>
            </a:r>
            <a:r>
              <a:rPr lang="en-US" sz="2200" b="1" dirty="0"/>
              <a:t> Patil</a:t>
            </a:r>
          </a:p>
          <a:p>
            <a:pPr algn="l"/>
            <a:endParaRPr sz="2100" b="1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6F2E09-0CC9-406B-BA77-5418B40C8FCE}"/>
              </a:ext>
            </a:extLst>
          </p:cNvPr>
          <p:cNvCxnSpPr/>
          <p:nvPr/>
        </p:nvCxnSpPr>
        <p:spPr>
          <a:xfrm>
            <a:off x="1657350" y="2102726"/>
            <a:ext cx="56921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ED6F8-EAEB-4C8C-A3B3-968EC3071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936082"/>
            <a:ext cx="6172200" cy="5826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2A90A-EE5B-468A-B053-A63D08582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296" y="1952953"/>
            <a:ext cx="8579069" cy="3386302"/>
          </a:xfrm>
        </p:spPr>
        <p:txBody>
          <a:bodyPr>
            <a:normAutofit fontScale="55000" lnSpcReduction="20000"/>
          </a:bodyPr>
          <a:lstStyle/>
          <a:p>
            <a:r>
              <a:rPr lang="en-US" sz="3800" dirty="0"/>
              <a:t>SQL-Based Market Analysis: 20 Key Business Queries.</a:t>
            </a:r>
          </a:p>
          <a:p>
            <a:r>
              <a:rPr lang="en-US" sz="3800" dirty="0"/>
              <a:t>Attributes : Aisles Dataset , Departments Dataset , </a:t>
            </a:r>
          </a:p>
          <a:p>
            <a:pPr marL="0" indent="0">
              <a:buNone/>
            </a:pPr>
            <a:r>
              <a:rPr lang="en-US" sz="3800" dirty="0"/>
              <a:t>     Order Products Prior Dataset , Orders Dataset , </a:t>
            </a:r>
          </a:p>
          <a:p>
            <a:pPr marL="0" indent="0">
              <a:buNone/>
            </a:pPr>
            <a:r>
              <a:rPr lang="en-US" sz="3800" dirty="0"/>
              <a:t>     Products Dataset.</a:t>
            </a:r>
          </a:p>
          <a:p>
            <a:r>
              <a:rPr lang="en-US" sz="3800" dirty="0"/>
              <a:t>For Merging the table, you have to use columns where specified as</a:t>
            </a:r>
          </a:p>
          <a:p>
            <a:pPr marL="0" indent="0">
              <a:buNone/>
            </a:pPr>
            <a:r>
              <a:rPr lang="en-US" sz="3800" dirty="0"/>
              <a:t>     Primary Keys.</a:t>
            </a:r>
          </a:p>
          <a:p>
            <a:r>
              <a:rPr lang="en-US" sz="3800" dirty="0"/>
              <a:t>You’ll need to perform data manipulation, aggregation, merging, and analysis across multiple datasets, such as joining orders with products, aisles, and departments to get all the required </a:t>
            </a:r>
            <a:r>
              <a:rPr lang="en-US" sz="3800" dirty="0" err="1"/>
              <a:t>informations</a:t>
            </a:r>
            <a:r>
              <a:rPr lang="en-US" sz="3800" dirty="0"/>
              <a:t>.</a:t>
            </a:r>
          </a:p>
          <a:p>
            <a:endParaRPr lang="en-US" sz="3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621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57D57-94EF-485C-9392-ACCC36E5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1063229"/>
            <a:ext cx="6172200" cy="60594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SQL Queries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AA30FB-7898-4356-A22A-33CCA3089B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3" y="1968721"/>
            <a:ext cx="6613634" cy="3365938"/>
          </a:xfrm>
        </p:spPr>
      </p:pic>
    </p:spTree>
    <p:extLst>
      <p:ext uri="{BB962C8B-B14F-4D97-AF65-F5344CB8AC3E}">
        <p14:creationId xmlns:p14="http://schemas.microsoft.com/office/powerpoint/2010/main" val="2744574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B3628-571D-434A-B97D-FBF37591E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SQL Queries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9DDDB2-139E-43DD-AFA4-DDD46CA009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4" y="2057403"/>
            <a:ext cx="5541578" cy="3269375"/>
          </a:xfrm>
        </p:spPr>
      </p:pic>
    </p:spTree>
    <p:extLst>
      <p:ext uri="{BB962C8B-B14F-4D97-AF65-F5344CB8AC3E}">
        <p14:creationId xmlns:p14="http://schemas.microsoft.com/office/powerpoint/2010/main" val="2796373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848DA-83E5-4A35-BF5E-C9009F675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SQL Queries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46746A-B074-447E-8508-E899F6D488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3" y="2057400"/>
            <a:ext cx="5766238" cy="3561036"/>
          </a:xfrm>
        </p:spPr>
      </p:pic>
    </p:spTree>
    <p:extLst>
      <p:ext uri="{BB962C8B-B14F-4D97-AF65-F5344CB8AC3E}">
        <p14:creationId xmlns:p14="http://schemas.microsoft.com/office/powerpoint/2010/main" val="2754660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17BAA-2476-485E-BD95-133DD46AB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SQL Queries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FDD0AC-328C-4B3B-9370-378AFBA342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5" y="2057403"/>
            <a:ext cx="6093373" cy="3394472"/>
          </a:xfrm>
        </p:spPr>
      </p:pic>
    </p:spTree>
    <p:extLst>
      <p:ext uri="{BB962C8B-B14F-4D97-AF65-F5344CB8AC3E}">
        <p14:creationId xmlns:p14="http://schemas.microsoft.com/office/powerpoint/2010/main" val="3000780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E6285-C615-46E6-9894-E3239BEF7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SQL Queries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EFB151F-C03A-43B0-BFBD-A0CAFE8E38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8182" y="2057403"/>
            <a:ext cx="5281448" cy="3394472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B951B2-1A63-4D5F-B4BD-54DC034121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4180" y="2323445"/>
            <a:ext cx="4796659" cy="271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010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2455F-26C2-4489-B557-7780D4B3B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SQL Queries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92340A6-8989-4AE3-85B1-18136651D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2301867"/>
            <a:ext cx="6172200" cy="2905544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5FF917-7F50-4340-BC23-9AD162BE2A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0916" y="1933903"/>
            <a:ext cx="5769525" cy="386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777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C94C3-4FDB-4465-936A-EA9031668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SQL Queries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294CCA-A49B-40EC-82F4-B95E320668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4" y="2183527"/>
            <a:ext cx="4910959" cy="3394472"/>
          </a:xfrm>
        </p:spPr>
      </p:pic>
    </p:spTree>
    <p:extLst>
      <p:ext uri="{BB962C8B-B14F-4D97-AF65-F5344CB8AC3E}">
        <p14:creationId xmlns:p14="http://schemas.microsoft.com/office/powerpoint/2010/main" val="458638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EDD39-8623-4153-99CD-DD6478697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SQL Queries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0D2AF9-11DC-4692-A6ED-EEB770E5DB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3" y="2183527"/>
            <a:ext cx="5013434" cy="3394472"/>
          </a:xfrm>
        </p:spPr>
      </p:pic>
    </p:spTree>
    <p:extLst>
      <p:ext uri="{BB962C8B-B14F-4D97-AF65-F5344CB8AC3E}">
        <p14:creationId xmlns:p14="http://schemas.microsoft.com/office/powerpoint/2010/main" val="3416178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2EFBA-0CAB-463A-A0F9-435ECB357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Dashboard Overview – Overall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1FD79-4EA2-4FDB-A9B1-35609C1C0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Total Orders:</a:t>
            </a:r>
            <a:r>
              <a:rPr lang="en-US" sz="2400" dirty="0"/>
              <a:t> 3+ Million (Train + Prior)</a:t>
            </a:r>
            <a:br>
              <a:rPr lang="en-US" sz="2400" dirty="0"/>
            </a:br>
            <a:r>
              <a:rPr lang="en-US" sz="2400" b="1" dirty="0"/>
              <a:t>Total Products:</a:t>
            </a:r>
            <a:r>
              <a:rPr lang="en-US" sz="2400" dirty="0"/>
              <a:t> ~49,000 across 134 aisles and 21 departments</a:t>
            </a:r>
            <a:br>
              <a:rPr lang="en-US" sz="2400" dirty="0"/>
            </a:br>
            <a:r>
              <a:rPr lang="en-US" sz="2400" b="1" dirty="0"/>
              <a:t>Unique Users:</a:t>
            </a:r>
            <a:r>
              <a:rPr lang="en-US" sz="2400" dirty="0"/>
              <a:t> Over 200,000</a:t>
            </a:r>
            <a:br>
              <a:rPr lang="en-US" sz="2400" dirty="0"/>
            </a:br>
            <a:r>
              <a:rPr lang="en-US" sz="2400" b="1" dirty="0"/>
              <a:t>Reorder Rate:</a:t>
            </a:r>
            <a:r>
              <a:rPr lang="en-US" sz="2400" dirty="0"/>
              <a:t> Approximately 59%</a:t>
            </a:r>
            <a:br>
              <a:rPr lang="en-US" sz="2400" dirty="0"/>
            </a:br>
            <a:r>
              <a:rPr lang="en-US" sz="2400" b="1" dirty="0"/>
              <a:t>Peak Ordering Hours:</a:t>
            </a:r>
            <a:r>
              <a:rPr lang="en-US" sz="2400" dirty="0"/>
              <a:t> 10 AM – 3 PM</a:t>
            </a:r>
            <a:br>
              <a:rPr lang="en-US" sz="2400" dirty="0"/>
            </a:br>
            <a:r>
              <a:rPr lang="en-US" sz="2400" b="1" dirty="0"/>
              <a:t>Top Categories:</a:t>
            </a:r>
            <a:r>
              <a:rPr lang="en-US" sz="2400" dirty="0"/>
              <a:t> Produce, Dairy, Beverages</a:t>
            </a:r>
            <a:br>
              <a:rPr lang="en-US" sz="2400" dirty="0"/>
            </a:br>
            <a:r>
              <a:rPr lang="en-US" sz="2400" b="1" dirty="0"/>
              <a:t>Average Order Size:</a:t>
            </a:r>
            <a:r>
              <a:rPr lang="en-US" sz="2400" dirty="0"/>
              <a:t> ~10 items</a:t>
            </a:r>
            <a:br>
              <a:rPr lang="en-US" sz="2400" dirty="0"/>
            </a:br>
            <a:r>
              <a:rPr lang="en-US" sz="2400" b="1" dirty="0"/>
              <a:t>Top Products:</a:t>
            </a:r>
            <a:r>
              <a:rPr lang="en-US" sz="2400" dirty="0"/>
              <a:t> Bananas, Organic Strawberries, Eggs</a:t>
            </a:r>
          </a:p>
        </p:txBody>
      </p:sp>
    </p:spTree>
    <p:extLst>
      <p:ext uri="{BB962C8B-B14F-4D97-AF65-F5344CB8AC3E}">
        <p14:creationId xmlns:p14="http://schemas.microsoft.com/office/powerpoint/2010/main" val="1874268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276EB-5ACC-47F4-BFFF-337ED35AE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/>
          <a:lstStyle/>
          <a:p>
            <a:pPr algn="ctr"/>
            <a:r>
              <a:rPr lang="en-US" b="1" dirty="0"/>
              <a:t>Dashboard Overview – Overall</a:t>
            </a:r>
          </a:p>
        </p:txBody>
      </p:sp>
      <p:pic>
        <p:nvPicPr>
          <p:cNvPr id="4" name="Content Placeholder 3" descr="1.png">
            <a:extLst>
              <a:ext uri="{FF2B5EF4-FFF2-40B4-BE49-F238E27FC236}">
                <a16:creationId xmlns:a16="http://schemas.microsoft.com/office/drawing/2014/main" id="{8F8291E0-4B07-4279-8A3A-D32B158DD9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556" y="1438308"/>
            <a:ext cx="7886700" cy="445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674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BA4A2-5E09-4DF1-9AD2-8858C905E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38460"/>
          </a:xfrm>
        </p:spPr>
        <p:txBody>
          <a:bodyPr/>
          <a:lstStyle/>
          <a:p>
            <a:pPr algn="ctr"/>
            <a:r>
              <a:rPr lang="en-US" b="1" dirty="0"/>
              <a:t>Dashboard – Order Behavior</a:t>
            </a:r>
          </a:p>
        </p:txBody>
      </p:sp>
      <p:pic>
        <p:nvPicPr>
          <p:cNvPr id="4" name="Content Placeholder 3" descr="2.png">
            <a:extLst>
              <a:ext uri="{FF2B5EF4-FFF2-40B4-BE49-F238E27FC236}">
                <a16:creationId xmlns:a16="http://schemas.microsoft.com/office/drawing/2014/main" id="{F3CBCDE5-D516-4AAD-814A-CFBB208FC0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437" y="1439917"/>
            <a:ext cx="8439435" cy="476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02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8B0B9-A682-4226-91F2-5022219FD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Dashboard – Product Performance</a:t>
            </a:r>
          </a:p>
        </p:txBody>
      </p:sp>
      <p:pic>
        <p:nvPicPr>
          <p:cNvPr id="4" name="Content Placeholder 3" descr="3.png">
            <a:extLst>
              <a:ext uri="{FF2B5EF4-FFF2-40B4-BE49-F238E27FC236}">
                <a16:creationId xmlns:a16="http://schemas.microsoft.com/office/drawing/2014/main" id="{0C351C7F-1B5B-4CE1-95D4-1E865B7365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3685" y="1545020"/>
            <a:ext cx="8306680" cy="467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145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24365-F7CF-470C-AF50-AC785BD7C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8818"/>
          </a:xfrm>
        </p:spPr>
        <p:txBody>
          <a:bodyPr/>
          <a:lstStyle/>
          <a:p>
            <a:pPr algn="ctr"/>
            <a:r>
              <a:rPr lang="en-US" b="1" dirty="0"/>
              <a:t>Dashboard – Reorder Analysis</a:t>
            </a:r>
          </a:p>
        </p:txBody>
      </p:sp>
      <p:pic>
        <p:nvPicPr>
          <p:cNvPr id="4" name="Content Placeholder 3" descr="4.png">
            <a:extLst>
              <a:ext uri="{FF2B5EF4-FFF2-40B4-BE49-F238E27FC236}">
                <a16:creationId xmlns:a16="http://schemas.microsoft.com/office/drawing/2014/main" id="{82D5CAF8-D9C6-4108-B64E-B413A8AFAD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549" y="1524000"/>
            <a:ext cx="8287643" cy="465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53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2AB67-EBEF-41E5-8ADF-CF5AE856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Market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867A1-5392-43AB-A644-432B1DD6D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360" y="1731764"/>
            <a:ext cx="7642990" cy="4185560"/>
          </a:xfrm>
        </p:spPr>
        <p:txBody>
          <a:bodyPr>
            <a:normAutofit/>
          </a:bodyPr>
          <a:lstStyle/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r>
              <a:rPr lang="en-US" sz="2000" dirty="0"/>
              <a:t>• Total Orders Analyzed: 1 Million</a:t>
            </a: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r>
              <a:rPr lang="en-US" sz="2000" dirty="0"/>
              <a:t>• Average Days Between Orders: 11.1</a:t>
            </a: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r>
              <a:rPr lang="en-US" sz="2000" dirty="0"/>
              <a:t>• Average Products Per Order: 11</a:t>
            </a: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r>
              <a:rPr lang="en-US" sz="2000" dirty="0"/>
              <a:t>• High Order Activity: Between 10 AM - 4 PM</a:t>
            </a: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r>
              <a:rPr lang="en-US" sz="2000" dirty="0"/>
              <a:t>• Popular Products: Bananas, Organic Strawberries, Yogurt</a:t>
            </a: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r>
              <a:rPr lang="en-US" sz="2000" dirty="0"/>
              <a:t>• Reorder Rate: 60%</a:t>
            </a: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r>
              <a:rPr lang="en-US" sz="2000" dirty="0"/>
              <a:t>• Key Insight: Majority of reorders come from a small group of     frequently bought items</a:t>
            </a: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r>
              <a:rPr lang="en-US" sz="2000" dirty="0"/>
              <a:t>• Recommendation: Focus marketing efforts on top reordered products and optimize replenishment cycles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248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1D21F-B1ED-4670-9C5C-4EAD5C3D5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6A0BA-FC69-486B-9BE2-EDE3B4EC5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9"/>
            <a:ext cx="9017876" cy="362754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Analyzed Instacart customer and product data to uncover shopping trends.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Data includes 3M+ orders, 200K+ users, and 49K+ products.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30% of products contribute to the majority of repeat purchases.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Peak order hours: 10 AM – 3 PM; top days: Sunday &amp; Monday.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Produce and Dairy are top departments by volume and reorder rate.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Opportunities: personalization, inventory planning, UX enhancements.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459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986" y="1690689"/>
            <a:ext cx="8513380" cy="3824248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sz="2400" dirty="0"/>
              <a:t>Analyzed store layout and product organization across aisles &amp; departments.</a:t>
            </a:r>
          </a:p>
          <a:p>
            <a:r>
              <a:rPr sz="2400" dirty="0"/>
              <a:t>Evaluated the product ordering process efficiency.</a:t>
            </a:r>
          </a:p>
          <a:p>
            <a:r>
              <a:rPr sz="2400" dirty="0"/>
              <a:t>Reviewed training practices for handling product categories.</a:t>
            </a:r>
          </a:p>
          <a:p>
            <a:r>
              <a:rPr sz="2400" dirty="0"/>
              <a:t>Identified operational gaps and suggested improvements.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0190" y="346841"/>
            <a:ext cx="6172200" cy="809298"/>
          </a:xfrm>
        </p:spPr>
        <p:txBody>
          <a:bodyPr/>
          <a:lstStyle/>
          <a:p>
            <a:pPr algn="ctr"/>
            <a:r>
              <a:rPr b="1" dirty="0"/>
              <a:t>Objectives</a:t>
            </a:r>
            <a:r>
              <a:rPr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415" y="1460938"/>
            <a:ext cx="8439806" cy="4256689"/>
          </a:xfrm>
        </p:spPr>
        <p:txBody>
          <a:bodyPr>
            <a:normAutofit/>
          </a:bodyPr>
          <a:lstStyle/>
          <a:p>
            <a:pPr marL="2286000" lvl="5" indent="0">
              <a:buNone/>
            </a:pPr>
            <a:endParaRPr dirty="0"/>
          </a:p>
          <a:p>
            <a:r>
              <a:rPr sz="2400" dirty="0"/>
              <a:t>Assess department and aisle organization impact on sales.</a:t>
            </a:r>
          </a:p>
          <a:p>
            <a:r>
              <a:rPr sz="2400" dirty="0"/>
              <a:t>Analyze staff training processes.</a:t>
            </a:r>
            <a:endParaRPr lang="en-US" sz="2400" dirty="0"/>
          </a:p>
          <a:p>
            <a:r>
              <a:rPr lang="en-US" sz="2400" dirty="0"/>
              <a:t>Provide actionable insights to improve business decision and user experience.</a:t>
            </a:r>
          </a:p>
          <a:p>
            <a:r>
              <a:rPr lang="en-US" sz="2400" dirty="0"/>
              <a:t>Analyze Instacart datasets to uncover user behavior, product trends, and reorder patterns.</a:t>
            </a:r>
          </a:p>
          <a:p>
            <a:pPr marL="0" indent="0">
              <a:buNone/>
            </a:pPr>
            <a:endParaRPr lang="en-US" sz="1500" dirty="0"/>
          </a:p>
          <a:p>
            <a:endParaRPr sz="1500" dirty="0"/>
          </a:p>
          <a:p>
            <a:pPr marL="0" indent="0">
              <a:buNone/>
            </a:pPr>
            <a:endParaRPr lang="en-US" sz="1500" dirty="0"/>
          </a:p>
          <a:p>
            <a:endParaRPr lang="en-US" sz="1500" dirty="0"/>
          </a:p>
          <a:p>
            <a:endParaRPr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D81B2-AFA2-4E92-B618-27CEDB15D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B42B8-E9A1-42C7-A111-F576EC4E4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Use of orders, products, aisles, department, and reorder datasets.</a:t>
            </a:r>
          </a:p>
          <a:p>
            <a:r>
              <a:rPr lang="en-US" sz="2400" dirty="0"/>
              <a:t>Focus on product performance, use behavior, and order structure</a:t>
            </a:r>
          </a:p>
          <a:p>
            <a:r>
              <a:rPr lang="en-US" sz="2400" dirty="0"/>
              <a:t>Excludes </a:t>
            </a:r>
            <a:r>
              <a:rPr lang="en-US" sz="2400" dirty="0" err="1"/>
              <a:t>Pll</a:t>
            </a:r>
            <a:r>
              <a:rPr lang="en-US" sz="2400" dirty="0"/>
              <a:t> and external market comparisons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24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b="1" dirty="0"/>
              <a:t>Retail/Grocery 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dirty="0"/>
              <a:t>Retail sector projected to grow at 4.5% CAGR globally.</a:t>
            </a:r>
          </a:p>
          <a:p>
            <a:r>
              <a:rPr sz="2400" dirty="0"/>
              <a:t>Automation in ordering and shelf management is increasing.</a:t>
            </a:r>
          </a:p>
          <a:p>
            <a:r>
              <a:rPr sz="2400" dirty="0"/>
              <a:t>Customer experience tied closely to in-store navigation and product availability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Aisle &amp; Department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dirty="0"/>
              <a:t>Departments grouped by product type (e.g., dairy, bakery, beverages).</a:t>
            </a:r>
          </a:p>
          <a:p>
            <a:r>
              <a:rPr sz="2400" dirty="0"/>
              <a:t>Layout impacts product visibility and impulse buys.</a:t>
            </a:r>
          </a:p>
          <a:p>
            <a:r>
              <a:rPr sz="2400" dirty="0"/>
              <a:t>Efficient categorization aids restocking and customer navigation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Product Order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dirty="0"/>
              <a:t>Stock checked via POS data or manual inventory.</a:t>
            </a:r>
          </a:p>
          <a:p>
            <a:r>
              <a:rPr sz="2400" dirty="0"/>
              <a:t>Orders placed through centralized software or vendor portals.</a:t>
            </a:r>
          </a:p>
          <a:p>
            <a:r>
              <a:rPr sz="2400" dirty="0"/>
              <a:t>Lead time affects shelf availability and freshness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179019" cy="1325563"/>
          </a:xfrm>
        </p:spPr>
        <p:txBody>
          <a:bodyPr>
            <a:normAutofit/>
          </a:bodyPr>
          <a:lstStyle/>
          <a:p>
            <a:pPr algn="ctr"/>
            <a:r>
              <a:rPr b="1" dirty="0"/>
              <a:t>Training for Product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dirty="0"/>
              <a:t>Staff trained on FIFO (First In First Out) methods.</a:t>
            </a:r>
          </a:p>
          <a:p>
            <a:r>
              <a:rPr sz="2400" dirty="0"/>
              <a:t>Training includes storage, safety, and handling protocols.</a:t>
            </a:r>
          </a:p>
          <a:p>
            <a:r>
              <a:rPr sz="2400" dirty="0"/>
              <a:t>Digital tools assist in learning (apps, e-learning modules).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SWOT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sz="2400" dirty="0"/>
              <a:t>Strengths: Structured departments, trained staff.</a:t>
            </a:r>
          </a:p>
          <a:p>
            <a:r>
              <a:rPr sz="2400" dirty="0"/>
              <a:t>Weaknesses: Manual checks, inconsistent restocking.</a:t>
            </a:r>
          </a:p>
          <a:p>
            <a:r>
              <a:rPr sz="2400" dirty="0"/>
              <a:t>Opportunities: Digital tracking, automated ordering.</a:t>
            </a:r>
          </a:p>
          <a:p>
            <a:r>
              <a:rPr sz="2400" dirty="0"/>
              <a:t>Threats: Competitor tech adoption, supply chain disruptions.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Competitor Benchmarking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dirty="0"/>
              <a:t>Top competitors use AI-driven planograms.</a:t>
            </a:r>
          </a:p>
          <a:p>
            <a:r>
              <a:rPr sz="2400" dirty="0"/>
              <a:t>Some offer mobile navigation aids to customers.</a:t>
            </a:r>
          </a:p>
          <a:p>
            <a:r>
              <a:rPr sz="2400" dirty="0"/>
              <a:t>Staff are cross-trained for flexibility and efficiency.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2A600-4BA4-48B9-9A52-A3242DBDF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Insights &amp;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5A96A-BF1D-4056-BBC0-E2C63DA3C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80% of reorders come from 30% of products</a:t>
            </a:r>
          </a:p>
          <a:p>
            <a:r>
              <a:rPr lang="en-US" sz="2400" dirty="0"/>
              <a:t>Peak order hours: 10am–3pm, especially on weekends</a:t>
            </a:r>
          </a:p>
          <a:p>
            <a:r>
              <a:rPr lang="en-US" sz="2400" dirty="0"/>
              <a:t>Top aisle: Fresh vegetables, followed by dairy and beverages</a:t>
            </a:r>
          </a:p>
          <a:p>
            <a:r>
              <a:rPr lang="en-US" sz="2400" dirty="0"/>
              <a:t>Average order contains 10.3 items</a:t>
            </a:r>
          </a:p>
          <a:p>
            <a:r>
              <a:rPr lang="en-US" sz="2400" dirty="0"/>
              <a:t>Reorder rate is highest in dairy and produce departments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416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Insights &amp;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dirty="0"/>
              <a:t>80% of sales occur in 30% of store space (front aisles).</a:t>
            </a:r>
          </a:p>
          <a:p>
            <a:r>
              <a:rPr sz="2400" dirty="0"/>
              <a:t>Stockouts reduce repeat customer visits by 12%.</a:t>
            </a:r>
          </a:p>
          <a:p>
            <a:r>
              <a:rPr sz="2400" dirty="0"/>
              <a:t>Training compliance linked to faster shelf restocks.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97385-958C-4514-B4E9-79135C989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Page Navigation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41E97-A96F-42B6-869A-FD6DD8526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Users often revisit the same product categories</a:t>
            </a:r>
          </a:p>
          <a:p>
            <a:r>
              <a:rPr lang="en-US" sz="2400" dirty="0"/>
              <a:t>Searches frequently used for known brands or staples</a:t>
            </a:r>
          </a:p>
          <a:p>
            <a:r>
              <a:rPr lang="en-US" sz="2400" dirty="0"/>
              <a:t>Add-to-cart order suggests top items are added early</a:t>
            </a:r>
          </a:p>
          <a:p>
            <a:r>
              <a:rPr lang="en-US" sz="2400" dirty="0"/>
              <a:t>Opportunity to improve recommendations and category links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9791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Key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400" dirty="0"/>
          </a:p>
          <a:p>
            <a:r>
              <a:rPr sz="2400" dirty="0"/>
              <a:t>Digitize inventory and ordering workflows.</a:t>
            </a:r>
          </a:p>
          <a:p>
            <a:r>
              <a:rPr sz="2400" dirty="0"/>
              <a:t>Reorganize top-selling products to high-traffic zones.</a:t>
            </a:r>
          </a:p>
          <a:p>
            <a:r>
              <a:rPr sz="2400" dirty="0"/>
              <a:t>Enhance onboarding and refresher training programs.</a:t>
            </a:r>
          </a:p>
        </p:txBody>
      </p:sp>
    </p:spTree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1000167"/>
            <a:ext cx="6172200" cy="85725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Thank You!</a:t>
            </a:r>
            <a:endParaRPr sz="48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245</TotalTime>
  <Words>825</Words>
  <Application>Microsoft Office PowerPoint</Application>
  <PresentationFormat>On-screen Show (4:3)</PresentationFormat>
  <Paragraphs>115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Market Analysis Project</vt:lpstr>
      <vt:lpstr>Task</vt:lpstr>
      <vt:lpstr>SQL Queries</vt:lpstr>
      <vt:lpstr>SQL Queries</vt:lpstr>
      <vt:lpstr>SQL Queries</vt:lpstr>
      <vt:lpstr>SQL Queries</vt:lpstr>
      <vt:lpstr>SQL Queries</vt:lpstr>
      <vt:lpstr>SQL Queries</vt:lpstr>
      <vt:lpstr>SQL Queries</vt:lpstr>
      <vt:lpstr>SQL Queries</vt:lpstr>
      <vt:lpstr>Dashboard Overview – Overall</vt:lpstr>
      <vt:lpstr>Dashboard Overview – Overall</vt:lpstr>
      <vt:lpstr>Dashboard – Order Behavior</vt:lpstr>
      <vt:lpstr>Dashboard – Product Performance</vt:lpstr>
      <vt:lpstr>Dashboard – Reorder Analysis</vt:lpstr>
      <vt:lpstr>Market Analysis</vt:lpstr>
      <vt:lpstr>Executive Summary</vt:lpstr>
      <vt:lpstr>Executive Summary</vt:lpstr>
      <vt:lpstr>Objectives </vt:lpstr>
      <vt:lpstr>Scope</vt:lpstr>
      <vt:lpstr>Retail/Grocery Market Overview</vt:lpstr>
      <vt:lpstr>Aisle &amp; Department Structure</vt:lpstr>
      <vt:lpstr>Product Order Process</vt:lpstr>
      <vt:lpstr>Training for Product Management</vt:lpstr>
      <vt:lpstr>SWOT Analysis</vt:lpstr>
      <vt:lpstr>Competitor Benchmarking</vt:lpstr>
      <vt:lpstr>Insights &amp; Data</vt:lpstr>
      <vt:lpstr>Insights &amp; Data</vt:lpstr>
      <vt:lpstr>Page Navigation Insights</vt:lpstr>
      <vt:lpstr>Key Recommendations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Analysis Project</dc:title>
  <dc:subject/>
  <dc:creator>DELL</dc:creator>
  <cp:keywords/>
  <dc:description>generated using python-pptx</dc:description>
  <cp:lastModifiedBy>TEJAS PATIL</cp:lastModifiedBy>
  <cp:revision>21</cp:revision>
  <dcterms:created xsi:type="dcterms:W3CDTF">2013-01-27T09:14:16Z</dcterms:created>
  <dcterms:modified xsi:type="dcterms:W3CDTF">2025-05-01T09:59:55Z</dcterms:modified>
  <cp:category/>
</cp:coreProperties>
</file>